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77" r:id="rId4"/>
    <p:sldId id="279" r:id="rId5"/>
    <p:sldId id="260" r:id="rId6"/>
    <p:sldId id="258" r:id="rId7"/>
    <p:sldId id="259" r:id="rId8"/>
    <p:sldId id="266" r:id="rId9"/>
    <p:sldId id="267" r:id="rId10"/>
    <p:sldId id="268" r:id="rId11"/>
    <p:sldId id="269" r:id="rId12"/>
    <p:sldId id="270" r:id="rId13"/>
    <p:sldId id="271" r:id="rId14"/>
    <p:sldId id="274" r:id="rId15"/>
    <p:sldId id="27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494B"/>
    <a:srgbClr val="1A237E"/>
    <a:srgbClr val="DBE9F6"/>
    <a:srgbClr val="8489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023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200000">
            <a:off x="7358063" y="-714375"/>
            <a:ext cx="2143125" cy="18573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 rot="-900000">
            <a:off x="-714375" y="3857625"/>
            <a:ext cx="2143125" cy="18573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768845" y="285750"/>
            <a:ext cx="3606282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9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Arquitetura RISC-V</a:t>
            </a:r>
            <a:endParaRPr lang="en-US" sz="2925" dirty="0"/>
          </a:p>
        </p:txBody>
      </p:sp>
      <p:sp>
        <p:nvSpPr>
          <p:cNvPr id="6" name="Text 3"/>
          <p:cNvSpPr/>
          <p:nvPr/>
        </p:nvSpPr>
        <p:spPr>
          <a:xfrm>
            <a:off x="2211381" y="985838"/>
            <a:ext cx="472120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Visão Geral sobre Desempenho e Segurança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3416750" y="1571625"/>
            <a:ext cx="231047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Pedro Tuttman Cysne Soares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18538" y="1867828"/>
            <a:ext cx="27069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Engenharia de Computação e Informação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290381" y="2493163"/>
            <a:ext cx="4563210" cy="144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Orientadores: Prof. Diego Leonel Cadette Dutra e Prof. Claudio Miceli de Farias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2835120" y="3093244"/>
            <a:ext cx="3473732" cy="357188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35120" y="3093244"/>
            <a:ext cx="3473732" cy="35718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Semana de Integração Acadêmica (SIAC) - UFRJ</a:t>
            </a:r>
            <a:endParaRPr lang="en-US" sz="1046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28625" y="4286250"/>
            <a:ext cx="2286000" cy="5715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E7B1A6C-1AB7-131E-7DAC-F99DF1A6E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876" y="3661011"/>
            <a:ext cx="2392218" cy="1250478"/>
          </a:xfrm>
          <a:prstGeom prst="rect">
            <a:avLst/>
          </a:prstGeom>
        </p:spPr>
      </p:pic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675F9216-FFF5-C595-6854-7CBA439FC0B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429375" y="4286250"/>
            <a:ext cx="2286000" cy="5715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18CC6975-7F08-0B1A-5203-20271E4B984E}"/>
              </a:ext>
            </a:extLst>
          </p:cNvPr>
          <p:cNvSpPr txBox="1"/>
          <p:nvPr/>
        </p:nvSpPr>
        <p:spPr>
          <a:xfrm>
            <a:off x="1764130" y="2139726"/>
            <a:ext cx="53409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Grupo de </a:t>
            </a:r>
            <a:r>
              <a:rPr lang="en-US" sz="105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Resposta</a:t>
            </a: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r>
              <a:rPr lang="en-US" sz="105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Incidentes</a:t>
            </a: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r>
              <a:rPr lang="en-US" sz="105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</a:t>
            </a:r>
            <a:r>
              <a:rPr lang="en-US" sz="10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(GRIS)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é uma ISA?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57263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Instruction Set Architecture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321594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interface entre o hardware e o software, definindo quais instruções o processador pode executar.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85750" y="1928813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Importância da ISA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85750" y="2293144"/>
            <a:ext cx="3857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Permite portabilidade de software entre diferentes implementações de hardware que compartilham a mesma ISA.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3114675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RISC-V como ISA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85750" y="3479006"/>
            <a:ext cx="3857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ISA aberta e modular que permite personalização para diferentes necessidades de computação.</a:t>
            </a:r>
            <a:endParaRPr lang="en-US" sz="1046" dirty="0"/>
          </a:p>
        </p:txBody>
      </p:sp>
      <p:pic>
        <p:nvPicPr>
          <p:cNvPr id="1030" name="Picture 6" descr="Microarchitecture and Instruction Set Architecture ...">
            <a:extLst>
              <a:ext uri="{FF2B5EF4-FFF2-40B4-BE49-F238E27FC236}">
                <a16:creationId xmlns:a16="http://schemas.microsoft.com/office/drawing/2014/main" id="{D587D8C4-611F-4265-0DFD-231FFACF8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112" y="764381"/>
            <a:ext cx="3105150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04984A6-B32F-BDF4-1115-66C0F905A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1" y="1035589"/>
            <a:ext cx="8286136" cy="381144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95244B2-266E-DF20-7042-C9F31AABF691}"/>
              </a:ext>
            </a:extLst>
          </p:cNvPr>
          <p:cNvSpPr txBox="1"/>
          <p:nvPr/>
        </p:nvSpPr>
        <p:spPr>
          <a:xfrm>
            <a:off x="147782" y="296463"/>
            <a:ext cx="331533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30" b="1" dirty="0">
                <a:solidFill>
                  <a:srgbClr val="1A237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Registradores no RISC-V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9816072-AA31-14D3-2CC7-A7CAF81E1AAF}"/>
              </a:ext>
            </a:extLst>
          </p:cNvPr>
          <p:cNvSpPr/>
          <p:nvPr/>
        </p:nvSpPr>
        <p:spPr>
          <a:xfrm>
            <a:off x="-193964" y="4488873"/>
            <a:ext cx="4451928" cy="4618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7433219-BAF8-E137-657B-935AE0858EEA}"/>
              </a:ext>
            </a:extLst>
          </p:cNvPr>
          <p:cNvSpPr txBox="1"/>
          <p:nvPr/>
        </p:nvSpPr>
        <p:spPr>
          <a:xfrm>
            <a:off x="959465" y="4470482"/>
            <a:ext cx="1686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i="1" dirty="0">
                <a:solidFill>
                  <a:srgbClr val="1A237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Calling Convention</a:t>
            </a:r>
          </a:p>
        </p:txBody>
      </p:sp>
    </p:spTree>
    <p:extLst>
      <p:ext uri="{BB962C8B-B14F-4D97-AF65-F5344CB8AC3E}">
        <p14:creationId xmlns:p14="http://schemas.microsoft.com/office/powerpoint/2010/main" val="221403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47F7C9C-AE75-95F3-30C1-D988FABF2CFF}"/>
              </a:ext>
            </a:extLst>
          </p:cNvPr>
          <p:cNvSpPr/>
          <p:nvPr/>
        </p:nvSpPr>
        <p:spPr>
          <a:xfrm>
            <a:off x="323681" y="0"/>
            <a:ext cx="8294337" cy="833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6A9274-C51D-A29F-BF7A-20573F6205FA}"/>
              </a:ext>
            </a:extLst>
          </p:cNvPr>
          <p:cNvSpPr txBox="1"/>
          <p:nvPr/>
        </p:nvSpPr>
        <p:spPr>
          <a:xfrm>
            <a:off x="153224" y="288718"/>
            <a:ext cx="3810659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30" b="1" dirty="0">
                <a:solidFill>
                  <a:srgbClr val="1A237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Retorno e Controle de Fluxo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CC599AB-8C33-2140-4819-1AB13C79CD81}"/>
              </a:ext>
            </a:extLst>
          </p:cNvPr>
          <p:cNvSpPr txBox="1"/>
          <p:nvPr/>
        </p:nvSpPr>
        <p:spPr>
          <a:xfrm>
            <a:off x="6065834" y="2508712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1A237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</a:t>
            </a:r>
            <a:r>
              <a:rPr lang="pt-BR" dirty="0">
                <a:solidFill>
                  <a:srgbClr val="1A237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pt-BR" dirty="0">
                <a:solidFill>
                  <a:srgbClr val="1A237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Wingdings" panose="05000000000000000000" pitchFamily="2" charset="2"/>
              </a:rPr>
              <a:t> PC + 4 (16)</a:t>
            </a:r>
            <a:endParaRPr lang="pt-BR" dirty="0">
              <a:solidFill>
                <a:srgbClr val="1A237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8E2219A-D25C-26B9-3F60-C5EE9590A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085862"/>
              </p:ext>
            </p:extLst>
          </p:nvPr>
        </p:nvGraphicFramePr>
        <p:xfrm>
          <a:off x="5379263" y="864529"/>
          <a:ext cx="3253445" cy="1545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147">
                  <a:extLst>
                    <a:ext uri="{9D8B030D-6E8A-4147-A177-3AD203B41FA5}">
                      <a16:colId xmlns:a16="http://schemas.microsoft.com/office/drawing/2014/main" val="2471755229"/>
                    </a:ext>
                  </a:extLst>
                </a:gridCol>
                <a:gridCol w="2403298">
                  <a:extLst>
                    <a:ext uri="{9D8B030D-6E8A-4147-A177-3AD203B41FA5}">
                      <a16:colId xmlns:a16="http://schemas.microsoft.com/office/drawing/2014/main" val="1336396120"/>
                    </a:ext>
                  </a:extLst>
                </a:gridCol>
              </a:tblGrid>
              <a:tr h="22079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Endereço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Assembly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2799532"/>
                  </a:ext>
                </a:extLst>
              </a:tr>
              <a:tr h="2207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INSTRUÇÃO 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0129874"/>
                  </a:ext>
                </a:extLst>
              </a:tr>
              <a:tr h="2207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INSTRUÇÃO 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85359100"/>
                  </a:ext>
                </a:extLst>
              </a:tr>
              <a:tr h="2207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INSTRUÇÃO 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7345914"/>
                  </a:ext>
                </a:extLst>
              </a:tr>
              <a:tr h="2207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CHAMADA DE FUNCAO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100834"/>
                  </a:ext>
                </a:extLst>
              </a:tr>
              <a:tr h="2207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INSTRUÇÃO 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9045197"/>
                  </a:ext>
                </a:extLst>
              </a:tr>
              <a:tr h="2207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...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...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3681206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BCAE927-C4AE-0895-4BFB-01E41E165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642976"/>
              </p:ext>
            </p:extLst>
          </p:nvPr>
        </p:nvGraphicFramePr>
        <p:xfrm>
          <a:off x="5393953" y="3316513"/>
          <a:ext cx="3238755" cy="1335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6308">
                  <a:extLst>
                    <a:ext uri="{9D8B030D-6E8A-4147-A177-3AD203B41FA5}">
                      <a16:colId xmlns:a16="http://schemas.microsoft.com/office/drawing/2014/main" val="4015230053"/>
                    </a:ext>
                  </a:extLst>
                </a:gridCol>
                <a:gridCol w="2392447">
                  <a:extLst>
                    <a:ext uri="{9D8B030D-6E8A-4147-A177-3AD203B41FA5}">
                      <a16:colId xmlns:a16="http://schemas.microsoft.com/office/drawing/2014/main" val="3851052601"/>
                    </a:ext>
                  </a:extLst>
                </a:gridCol>
              </a:tblGrid>
              <a:tr h="333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Endereço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Assembly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8292006"/>
                  </a:ext>
                </a:extLst>
              </a:tr>
              <a:tr h="33397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100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INSTRUÇÃO 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0290851"/>
                  </a:ext>
                </a:extLst>
              </a:tr>
              <a:tr h="33397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104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INSTRUÇÃO 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5584596"/>
                  </a:ext>
                </a:extLst>
              </a:tr>
              <a:tr h="33397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108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a-DK" sz="1100" u="none" strike="noStrike" dirty="0">
                          <a:effectLst/>
                        </a:rPr>
                        <a:t>ret (jalr x0, 0(ra)</a:t>
                      </a:r>
                      <a:endParaRPr lang="da-DK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8713213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8974885E-5386-8D8A-DF52-3DEAE2369F4B}"/>
              </a:ext>
            </a:extLst>
          </p:cNvPr>
          <p:cNvSpPr txBox="1"/>
          <p:nvPr/>
        </p:nvSpPr>
        <p:spPr>
          <a:xfrm>
            <a:off x="5379263" y="491081"/>
            <a:ext cx="109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Função 1: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EDB9BF9-E393-9858-B404-AFECCC184031}"/>
              </a:ext>
            </a:extLst>
          </p:cNvPr>
          <p:cNvSpPr txBox="1"/>
          <p:nvPr/>
        </p:nvSpPr>
        <p:spPr>
          <a:xfrm>
            <a:off x="5379263" y="291261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Função 2:</a:t>
            </a:r>
          </a:p>
        </p:txBody>
      </p:sp>
      <p:sp>
        <p:nvSpPr>
          <p:cNvPr id="12" name="Arco 11">
            <a:extLst>
              <a:ext uri="{FF2B5EF4-FFF2-40B4-BE49-F238E27FC236}">
                <a16:creationId xmlns:a16="http://schemas.microsoft.com/office/drawing/2014/main" id="{35E13A49-8D3B-0CD0-70AD-048C2D604238}"/>
              </a:ext>
            </a:extLst>
          </p:cNvPr>
          <p:cNvSpPr/>
          <p:nvPr/>
        </p:nvSpPr>
        <p:spPr>
          <a:xfrm rot="13755242">
            <a:off x="4735416" y="1980939"/>
            <a:ext cx="3500444" cy="298532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riângulo isósceles 12">
            <a:extLst>
              <a:ext uri="{FF2B5EF4-FFF2-40B4-BE49-F238E27FC236}">
                <a16:creationId xmlns:a16="http://schemas.microsoft.com/office/drawing/2014/main" id="{BA7362E7-D3CE-3A4A-3515-A96456CAFC8C}"/>
              </a:ext>
            </a:extLst>
          </p:cNvPr>
          <p:cNvSpPr/>
          <p:nvPr/>
        </p:nvSpPr>
        <p:spPr>
          <a:xfrm rot="3162727">
            <a:off x="5211411" y="2130332"/>
            <a:ext cx="163203" cy="12947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45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33286"/>
            <a:ext cx="4020310" cy="2261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Tipos de Instrução no RISC-V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50106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Formatos de Instrução</a:t>
            </a:r>
            <a:endParaRPr lang="en-US" sz="1238" dirty="0"/>
          </a:p>
        </p:txBody>
      </p:sp>
      <p:sp>
        <p:nvSpPr>
          <p:cNvPr id="5" name="Text 2"/>
          <p:cNvSpPr/>
          <p:nvPr/>
        </p:nvSpPr>
        <p:spPr>
          <a:xfrm>
            <a:off x="285750" y="1157288"/>
            <a:ext cx="3857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RISC-V, cada instrução ocupa exatamente 32 bits, facilitando sua decodificação e alinhamento na memória. As instruções são classificadas em formatos: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285750" y="1743075"/>
            <a:ext cx="8917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 R (Register)</a:t>
            </a:r>
            <a:endParaRPr lang="en-US" sz="837" dirty="0"/>
          </a:p>
        </p:txBody>
      </p:sp>
      <p:sp>
        <p:nvSpPr>
          <p:cNvPr id="7" name="Shape 4"/>
          <p:cNvSpPr/>
          <p:nvPr/>
        </p:nvSpPr>
        <p:spPr>
          <a:xfrm>
            <a:off x="285750" y="1935956"/>
            <a:ext cx="1893094" cy="2214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1935956"/>
            <a:ext cx="28575" cy="22145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6"/>
          <p:cNvSpPr/>
          <p:nvPr/>
        </p:nvSpPr>
        <p:spPr>
          <a:xfrm>
            <a:off x="285750" y="1935956"/>
            <a:ext cx="1893094" cy="221456"/>
          </a:xfrm>
          <a:prstGeom prst="rect">
            <a:avLst/>
          </a:prstGeom>
          <a:noFill/>
          <a:ln/>
        </p:spPr>
        <p:txBody>
          <a:bodyPr wrap="none" lIns="42545" tIns="42545" rIns="42545" bIns="42545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add rd, rs1, rs2</a:t>
            </a:r>
            <a:endParaRPr lang="en-US" sz="732" dirty="0"/>
          </a:p>
        </p:txBody>
      </p:sp>
      <p:sp>
        <p:nvSpPr>
          <p:cNvPr id="10" name="Text 7"/>
          <p:cNvSpPr/>
          <p:nvPr/>
        </p:nvSpPr>
        <p:spPr>
          <a:xfrm>
            <a:off x="285750" y="2178844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Operações entre registradores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2250281" y="1743075"/>
            <a:ext cx="10066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 I (Immediate)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2250281" y="1935956"/>
            <a:ext cx="1893094" cy="2214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2250281" y="1935956"/>
            <a:ext cx="28575" cy="22145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1"/>
          <p:cNvSpPr/>
          <p:nvPr/>
        </p:nvSpPr>
        <p:spPr>
          <a:xfrm>
            <a:off x="2250281" y="1935956"/>
            <a:ext cx="1893094" cy="221456"/>
          </a:xfrm>
          <a:prstGeom prst="rect">
            <a:avLst/>
          </a:prstGeom>
          <a:noFill/>
          <a:ln/>
        </p:spPr>
        <p:txBody>
          <a:bodyPr wrap="none" lIns="42545" tIns="42545" rIns="42545" bIns="42545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addi rd, rs1, imm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2250281" y="2178844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Operações com imediato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285750" y="2461022"/>
            <a:ext cx="7174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 S (Store)</a:t>
            </a:r>
            <a:endParaRPr lang="en-US" sz="837" dirty="0"/>
          </a:p>
        </p:txBody>
      </p:sp>
      <p:sp>
        <p:nvSpPr>
          <p:cNvPr id="17" name="Shape 14"/>
          <p:cNvSpPr/>
          <p:nvPr/>
        </p:nvSpPr>
        <p:spPr>
          <a:xfrm>
            <a:off x="285750" y="2653903"/>
            <a:ext cx="1893094" cy="2214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285750" y="2653903"/>
            <a:ext cx="28575" cy="22145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9" name="Text 16"/>
          <p:cNvSpPr/>
          <p:nvPr/>
        </p:nvSpPr>
        <p:spPr>
          <a:xfrm>
            <a:off x="285750" y="2653903"/>
            <a:ext cx="1893094" cy="221456"/>
          </a:xfrm>
          <a:prstGeom prst="rect">
            <a:avLst/>
          </a:prstGeom>
          <a:noFill/>
          <a:ln/>
        </p:spPr>
        <p:txBody>
          <a:bodyPr wrap="none" lIns="42545" tIns="42545" rIns="42545" bIns="42545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sw rs2, imm(rs1)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285750" y="2896791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Armazenamento na memória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2250281" y="2461022"/>
            <a:ext cx="828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 B (Branch)</a:t>
            </a:r>
            <a:endParaRPr lang="en-US" sz="837" dirty="0"/>
          </a:p>
        </p:txBody>
      </p:sp>
      <p:sp>
        <p:nvSpPr>
          <p:cNvPr id="22" name="Shape 19"/>
          <p:cNvSpPr/>
          <p:nvPr/>
        </p:nvSpPr>
        <p:spPr>
          <a:xfrm>
            <a:off x="2250281" y="2653903"/>
            <a:ext cx="1893094" cy="2214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0"/>
          <p:cNvSpPr/>
          <p:nvPr/>
        </p:nvSpPr>
        <p:spPr>
          <a:xfrm>
            <a:off x="2250281" y="2653903"/>
            <a:ext cx="28575" cy="22145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4" name="Text 21"/>
          <p:cNvSpPr/>
          <p:nvPr/>
        </p:nvSpPr>
        <p:spPr>
          <a:xfrm>
            <a:off x="2250281" y="2653903"/>
            <a:ext cx="1893094" cy="221456"/>
          </a:xfrm>
          <a:prstGeom prst="rect">
            <a:avLst/>
          </a:prstGeom>
          <a:noFill/>
          <a:ln/>
        </p:spPr>
        <p:txBody>
          <a:bodyPr wrap="none" lIns="42545" tIns="42545" rIns="42545" bIns="42545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beq rs1, rs2, offset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2250281" y="2896791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Desvio condicional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285750" y="3178969"/>
            <a:ext cx="107820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 U (Upper Imm)</a:t>
            </a:r>
            <a:endParaRPr lang="en-US" sz="837" dirty="0"/>
          </a:p>
        </p:txBody>
      </p:sp>
      <p:sp>
        <p:nvSpPr>
          <p:cNvPr id="27" name="Shape 24"/>
          <p:cNvSpPr/>
          <p:nvPr/>
        </p:nvSpPr>
        <p:spPr>
          <a:xfrm>
            <a:off x="285750" y="3371850"/>
            <a:ext cx="1893094" cy="2214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Shape 25"/>
          <p:cNvSpPr/>
          <p:nvPr/>
        </p:nvSpPr>
        <p:spPr>
          <a:xfrm>
            <a:off x="285750" y="3371850"/>
            <a:ext cx="28575" cy="22145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9" name="Text 26"/>
          <p:cNvSpPr/>
          <p:nvPr/>
        </p:nvSpPr>
        <p:spPr>
          <a:xfrm>
            <a:off x="285750" y="3371850"/>
            <a:ext cx="1893094" cy="221456"/>
          </a:xfrm>
          <a:prstGeom prst="rect">
            <a:avLst/>
          </a:prstGeom>
          <a:noFill/>
          <a:ln/>
        </p:spPr>
        <p:txBody>
          <a:bodyPr wrap="none" lIns="42545" tIns="42545" rIns="42545" bIns="42545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lui rd, imm</a:t>
            </a:r>
            <a:endParaRPr lang="en-US" sz="732" dirty="0"/>
          </a:p>
        </p:txBody>
      </p:sp>
      <p:sp>
        <p:nvSpPr>
          <p:cNvPr id="30" name="Text 27"/>
          <p:cNvSpPr/>
          <p:nvPr/>
        </p:nvSpPr>
        <p:spPr>
          <a:xfrm>
            <a:off x="285750" y="3614738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Carrega imediato na parte alta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2250281" y="3178969"/>
            <a:ext cx="6946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 J (Jump)</a:t>
            </a:r>
            <a:endParaRPr lang="en-US" sz="837" dirty="0"/>
          </a:p>
        </p:txBody>
      </p:sp>
      <p:sp>
        <p:nvSpPr>
          <p:cNvPr id="32" name="Shape 29"/>
          <p:cNvSpPr/>
          <p:nvPr/>
        </p:nvSpPr>
        <p:spPr>
          <a:xfrm>
            <a:off x="2250281" y="3371850"/>
            <a:ext cx="1893094" cy="2214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Shape 30"/>
          <p:cNvSpPr/>
          <p:nvPr/>
        </p:nvSpPr>
        <p:spPr>
          <a:xfrm>
            <a:off x="2250281" y="3371850"/>
            <a:ext cx="28575" cy="22145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4" name="Text 31"/>
          <p:cNvSpPr/>
          <p:nvPr/>
        </p:nvSpPr>
        <p:spPr>
          <a:xfrm>
            <a:off x="2250281" y="3371850"/>
            <a:ext cx="1893094" cy="221456"/>
          </a:xfrm>
          <a:prstGeom prst="rect">
            <a:avLst/>
          </a:prstGeom>
          <a:noFill/>
          <a:ln/>
        </p:spPr>
        <p:txBody>
          <a:bodyPr wrap="none" lIns="42545" tIns="42545" rIns="42545" bIns="42545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jal rd, offset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2250281" y="3614738"/>
            <a:ext cx="18930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Salto incondicional</a:t>
            </a:r>
            <a:endParaRPr lang="en-US" sz="680" dirty="0"/>
          </a:p>
        </p:txBody>
      </p:sp>
      <p:pic>
        <p:nvPicPr>
          <p:cNvPr id="2052" name="Picture 4" descr="RISC-V - MO601 - Arquitetura de Computadores II">
            <a:extLst>
              <a:ext uri="{FF2B5EF4-FFF2-40B4-BE49-F238E27FC236}">
                <a16:creationId xmlns:a16="http://schemas.microsoft.com/office/drawing/2014/main" id="{E234BED0-D090-A507-E23E-0BB59F689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2" y="1166920"/>
            <a:ext cx="4819760" cy="1802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63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Datapath e Unidade de Controle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41188"/>
            <a:ext cx="3316614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Datapath: O Caminho dos Dados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85750" y="1264329"/>
            <a:ext cx="3857625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285750" y="1244808"/>
            <a:ext cx="14886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Banco de Registradores: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75340" y="1431942"/>
            <a:ext cx="38576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Armazena temporariamente os dados que estão sendo processados. No RISC-V, são 32 registradores de propósito geral.</a:t>
            </a:r>
            <a:endParaRPr lang="en-US" sz="785" dirty="0"/>
          </a:p>
        </p:txBody>
      </p:sp>
      <p:sp>
        <p:nvSpPr>
          <p:cNvPr id="8" name="Text 5"/>
          <p:cNvSpPr/>
          <p:nvPr/>
        </p:nvSpPr>
        <p:spPr>
          <a:xfrm>
            <a:off x="289736" y="1898666"/>
            <a:ext cx="212660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ULA (Unidade Lógica e Aritmética):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75339" y="2143792"/>
            <a:ext cx="38576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Realiza operações aritméticas e lógicas sobre os dados.</a:t>
            </a:r>
            <a:endParaRPr lang="en-US" sz="785" dirty="0"/>
          </a:p>
        </p:txBody>
      </p:sp>
      <p:sp>
        <p:nvSpPr>
          <p:cNvPr id="10" name="Text 7"/>
          <p:cNvSpPr/>
          <p:nvPr/>
        </p:nvSpPr>
        <p:spPr>
          <a:xfrm>
            <a:off x="275340" y="2378869"/>
            <a:ext cx="13782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PC (Program Counter):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275338" y="2640424"/>
            <a:ext cx="38576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Registrador especial que armazena o endereço da próxima instrução.</a:t>
            </a:r>
            <a:endParaRPr lang="en-US" sz="785" dirty="0"/>
          </a:p>
        </p:txBody>
      </p:sp>
      <p:sp>
        <p:nvSpPr>
          <p:cNvPr id="12" name="Text 9"/>
          <p:cNvSpPr/>
          <p:nvPr/>
        </p:nvSpPr>
        <p:spPr>
          <a:xfrm>
            <a:off x="285750" y="3547110"/>
            <a:ext cx="2101537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Unidade de Controle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5750" y="3569417"/>
            <a:ext cx="3857625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285750" y="3864769"/>
            <a:ext cx="17602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Decodificador de Instruções: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285750" y="4079081"/>
            <a:ext cx="38576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Interpreta o opcode e os campos da instrução para determinar qual operação realizar.</a:t>
            </a:r>
            <a:endParaRPr lang="en-US" sz="785" dirty="0"/>
          </a:p>
        </p:txBody>
      </p:sp>
      <p:sp>
        <p:nvSpPr>
          <p:cNvPr id="16" name="Text 13"/>
          <p:cNvSpPr/>
          <p:nvPr/>
        </p:nvSpPr>
        <p:spPr>
          <a:xfrm>
            <a:off x="285750" y="4471988"/>
            <a:ext cx="11418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Sinais de Controle: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285750" y="4686300"/>
            <a:ext cx="38576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Determinam o comportamento dos componentes (RegWrite, ALUSrc, MemRead, MemWrite).</a:t>
            </a:r>
            <a:endParaRPr lang="en-US" sz="785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993" y="1244808"/>
            <a:ext cx="4436257" cy="3327193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4CD90ABB-F4B2-EE75-BB1E-4B4C1730D143}"/>
              </a:ext>
            </a:extLst>
          </p:cNvPr>
          <p:cNvSpPr txBox="1"/>
          <p:nvPr/>
        </p:nvSpPr>
        <p:spPr>
          <a:xfrm>
            <a:off x="202509" y="2878920"/>
            <a:ext cx="2832004" cy="23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40" b="1" dirty="0" err="1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Memória</a:t>
            </a:r>
            <a:r>
              <a:rPr lang="en-US" sz="94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r>
              <a:rPr lang="en-US" sz="940" b="1" dirty="0" err="1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Instruções</a:t>
            </a:r>
            <a:r>
              <a:rPr lang="en-US" sz="94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de Dados</a:t>
            </a:r>
            <a:endParaRPr lang="en-US" sz="94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B3CA68E-1BFF-7180-8678-3A845C049470}"/>
              </a:ext>
            </a:extLst>
          </p:cNvPr>
          <p:cNvSpPr txBox="1"/>
          <p:nvPr/>
        </p:nvSpPr>
        <p:spPr>
          <a:xfrm>
            <a:off x="202509" y="3167172"/>
            <a:ext cx="46286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8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Armazenam</a:t>
            </a:r>
            <a:r>
              <a:rPr lang="en-US" sz="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 </a:t>
            </a:r>
            <a:r>
              <a:rPr lang="en-US" sz="8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instruções</a:t>
            </a:r>
            <a:r>
              <a:rPr lang="en-US" sz="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dados </a:t>
            </a:r>
            <a:r>
              <a:rPr lang="en-US" sz="8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utilizados</a:t>
            </a:r>
            <a:r>
              <a:rPr lang="en-US" sz="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</a:t>
            </a:r>
            <a:r>
              <a:rPr lang="en-US" sz="8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produzidos</a:t>
            </a:r>
            <a:r>
              <a:rPr lang="en-US" sz="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8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pelo</a:t>
            </a:r>
            <a:r>
              <a:rPr lang="en-US" sz="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800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programa</a:t>
            </a:r>
            <a:r>
              <a:rPr lang="en-US" sz="8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221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Processadores de Ciclo Único, Multiciclo e Pipeline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85825"/>
            <a:ext cx="3857625" cy="85367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85825"/>
            <a:ext cx="28575" cy="85367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3"/>
          <p:cNvSpPr/>
          <p:nvPr/>
        </p:nvSpPr>
        <p:spPr>
          <a:xfrm>
            <a:off x="357188" y="957263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Processador de Ciclo Único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1185863"/>
            <a:ext cx="37147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Cada instrução é completamente executada em um único ciclo de clock. O tempo de ciclo é determinado pela instrução mais lenta, resultando em ciclos longos e baixa frequência de clock.</a:t>
            </a:r>
            <a:endParaRPr lang="en-US" sz="785" dirty="0"/>
          </a:p>
        </p:txBody>
      </p:sp>
      <p:sp>
        <p:nvSpPr>
          <p:cNvPr id="8" name="Shape 5"/>
          <p:cNvSpPr/>
          <p:nvPr/>
        </p:nvSpPr>
        <p:spPr>
          <a:xfrm>
            <a:off x="285750" y="1846659"/>
            <a:ext cx="3857625" cy="85367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846659"/>
            <a:ext cx="28575" cy="85367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7"/>
          <p:cNvSpPr/>
          <p:nvPr/>
        </p:nvSpPr>
        <p:spPr>
          <a:xfrm>
            <a:off x="357188" y="1918097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Processador Multiciclo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357188" y="2146697"/>
            <a:ext cx="37147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Cada instrução é dividida em múltiplos ciclos, reutilizando componentes. O tempo de clock é ajustado à etapa mais lenta, permitindo ciclos mais curtos e melhor aproveitamento de recursos.</a:t>
            </a:r>
            <a:endParaRPr lang="en-US" sz="785" dirty="0"/>
          </a:p>
        </p:txBody>
      </p:sp>
      <p:sp>
        <p:nvSpPr>
          <p:cNvPr id="12" name="Shape 9"/>
          <p:cNvSpPr/>
          <p:nvPr/>
        </p:nvSpPr>
        <p:spPr>
          <a:xfrm>
            <a:off x="285750" y="2807493"/>
            <a:ext cx="3857625" cy="1450181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pt-BR" dirty="0">
              <a:solidFill>
                <a:srgbClr val="48494B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85750" y="2807494"/>
            <a:ext cx="45719" cy="14501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1"/>
          <p:cNvSpPr/>
          <p:nvPr/>
        </p:nvSpPr>
        <p:spPr>
          <a:xfrm>
            <a:off x="357188" y="2878931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Processador Pipeline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57188" y="3107531"/>
            <a:ext cx="37147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Aproveita o paralelismo entre instruções. Modelo clássico de 5 estágios:</a:t>
            </a:r>
            <a:endParaRPr lang="en-US" sz="785" dirty="0"/>
          </a:p>
        </p:txBody>
      </p:sp>
      <p:sp>
        <p:nvSpPr>
          <p:cNvPr id="16" name="Text 13"/>
          <p:cNvSpPr/>
          <p:nvPr/>
        </p:nvSpPr>
        <p:spPr>
          <a:xfrm>
            <a:off x="500063" y="3303984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(Instruction Fetch): busca da memória</a:t>
            </a:r>
            <a:endParaRPr lang="en-US" sz="785" dirty="0"/>
          </a:p>
        </p:txBody>
      </p:sp>
      <p:sp>
        <p:nvSpPr>
          <p:cNvPr id="17" name="Text 14"/>
          <p:cNvSpPr/>
          <p:nvPr/>
        </p:nvSpPr>
        <p:spPr>
          <a:xfrm>
            <a:off x="500063" y="3464719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 (Instruction Decode): decodifica, lê registradores</a:t>
            </a:r>
            <a:endParaRPr lang="en-US" sz="785" dirty="0"/>
          </a:p>
        </p:txBody>
      </p:sp>
      <p:sp>
        <p:nvSpPr>
          <p:cNvPr id="18" name="Text 15"/>
          <p:cNvSpPr/>
          <p:nvPr/>
        </p:nvSpPr>
        <p:spPr>
          <a:xfrm>
            <a:off x="500063" y="3625453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 (Execute): ULA e avaliação de branch</a:t>
            </a:r>
            <a:endParaRPr lang="en-US" sz="785" dirty="0"/>
          </a:p>
        </p:txBody>
      </p:sp>
      <p:sp>
        <p:nvSpPr>
          <p:cNvPr id="19" name="Text 16"/>
          <p:cNvSpPr/>
          <p:nvPr/>
        </p:nvSpPr>
        <p:spPr>
          <a:xfrm>
            <a:off x="500063" y="3786188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 (Memory): acessos à memória</a:t>
            </a:r>
            <a:endParaRPr lang="en-US" sz="785" dirty="0"/>
          </a:p>
        </p:txBody>
      </p:sp>
      <p:sp>
        <p:nvSpPr>
          <p:cNvPr id="20" name="Text 17"/>
          <p:cNvSpPr/>
          <p:nvPr/>
        </p:nvSpPr>
        <p:spPr>
          <a:xfrm>
            <a:off x="500063" y="3946922"/>
            <a:ext cx="3571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WB (Write Back): escrita no registrador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285749" y="4398763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Registradores Intermediários</a:t>
            </a:r>
            <a:endParaRPr lang="en-US" sz="1238" dirty="0"/>
          </a:p>
        </p:txBody>
      </p:sp>
      <p:sp>
        <p:nvSpPr>
          <p:cNvPr id="22" name="Text 19"/>
          <p:cNvSpPr/>
          <p:nvPr/>
        </p:nvSpPr>
        <p:spPr>
          <a:xfrm>
            <a:off x="285750" y="4593431"/>
            <a:ext cx="3857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pipeline, registradores especiais entre etapas (IF/ID, ID/EX, EX/MEM, MEM/WB) armazenam dados e sinais de controle dos estágios, permitindo a execução paralela.</a:t>
            </a:r>
            <a:endParaRPr lang="en-US" sz="837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52460C28-7E94-214E-DA23-11C15E291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2" y="1763682"/>
            <a:ext cx="4286250" cy="1994753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11E0879C-3617-166D-6CD2-2C90F4D58947}"/>
              </a:ext>
            </a:extLst>
          </p:cNvPr>
          <p:cNvSpPr txBox="1"/>
          <p:nvPr/>
        </p:nvSpPr>
        <p:spPr>
          <a:xfrm>
            <a:off x="285749" y="4068729"/>
            <a:ext cx="3494867" cy="213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90" dirty="0">
                <a:solidFill>
                  <a:srgbClr val="48494B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Melhora o throughput e não o tempo de execução de uma instrução.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389" y="969326"/>
            <a:ext cx="6168710" cy="38891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326293"/>
            <a:ext cx="2162451" cy="39754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Hazards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285750" y="947080"/>
            <a:ext cx="3429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Estágios Típicos do Pipeline RISC-V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85750" y="1137499"/>
            <a:ext cx="342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Fetch → Decode → Execute → Memory → Writeback</a:t>
            </a:r>
            <a:endParaRPr lang="en-US" sz="1046" dirty="0"/>
          </a:p>
        </p:txBody>
      </p:sp>
      <p:sp>
        <p:nvSpPr>
          <p:cNvPr id="8" name="Shape 5"/>
          <p:cNvSpPr/>
          <p:nvPr/>
        </p:nvSpPr>
        <p:spPr>
          <a:xfrm>
            <a:off x="285750" y="2774100"/>
            <a:ext cx="3429000" cy="1657350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9" name="Text 6"/>
          <p:cNvSpPr/>
          <p:nvPr/>
        </p:nvSpPr>
        <p:spPr>
          <a:xfrm>
            <a:off x="392906" y="2881256"/>
            <a:ext cx="321468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Tipos de Hazards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535781" y="3197367"/>
            <a:ext cx="748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Estruturais: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1283922" y="3197367"/>
            <a:ext cx="215950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Conflitos por recursos de hardware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35781" y="3447398"/>
            <a:ext cx="6389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Dados: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15928" y="3624940"/>
            <a:ext cx="2921431" cy="144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Dependências entre </a:t>
            </a:r>
            <a:r>
              <a:rPr lang="en-US" sz="942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instruções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35781" y="3865307"/>
            <a:ext cx="7936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Controle: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35780" y="4096129"/>
            <a:ext cx="3071813" cy="144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Desvios</a:t>
            </a: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condicionais que alteram o fluxo de execução</a:t>
            </a:r>
            <a:endParaRPr lang="en-US" sz="942" dirty="0"/>
          </a:p>
        </p:txBody>
      </p:sp>
      <p:pic>
        <p:nvPicPr>
          <p:cNvPr id="2050" name="Picture 2" descr="Data hazards in an instruction pipeline">
            <a:extLst>
              <a:ext uri="{FF2B5EF4-FFF2-40B4-BE49-F238E27FC236}">
                <a16:creationId xmlns:a16="http://schemas.microsoft.com/office/drawing/2014/main" id="{51BCC5DC-8F15-B3D5-2E68-5C3A4E433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561" y="961550"/>
            <a:ext cx="4626533" cy="346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5224228A-ADF7-8B6C-3A3B-1E0562EE27D3}"/>
              </a:ext>
            </a:extLst>
          </p:cNvPr>
          <p:cNvSpPr txBox="1"/>
          <p:nvPr/>
        </p:nvSpPr>
        <p:spPr>
          <a:xfrm>
            <a:off x="198255" y="1641133"/>
            <a:ext cx="49280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Definição</a:t>
            </a:r>
            <a:endParaRPr lang="en-US" sz="135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CE32A2B-206B-C135-E908-28CCD91E1F30}"/>
              </a:ext>
            </a:extLst>
          </p:cNvPr>
          <p:cNvSpPr txBox="1"/>
          <p:nvPr/>
        </p:nvSpPr>
        <p:spPr>
          <a:xfrm>
            <a:off x="198254" y="1939251"/>
            <a:ext cx="34093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Pipeline </a:t>
            </a:r>
            <a:r>
              <a:rPr lang="pt-BR" sz="10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hazards</a:t>
            </a:r>
            <a:r>
              <a:rPr lang="pt-B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são situações que impedem que as instruções avancem “uma por estágio por ciclo” no pipeline sem causar erro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56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Comparação entre x86, ARM e RISC-V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9322" y="853678"/>
            <a:ext cx="1713049" cy="321469"/>
          </a:xfrm>
          <a:prstGeom prst="rect">
            <a:avLst/>
          </a:prstGeom>
          <a:solidFill>
            <a:srgbClr val="BBDEFB"/>
          </a:solidFill>
          <a:ln w="99">
            <a:solidFill>
              <a:srgbClr val="90CAF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9322" y="853678"/>
            <a:ext cx="1713049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Característica</a:t>
            </a:r>
            <a:endParaRPr lang="en-US" sz="837" dirty="0"/>
          </a:p>
        </p:txBody>
      </p:sp>
      <p:sp>
        <p:nvSpPr>
          <p:cNvPr id="6" name="Shape 3"/>
          <p:cNvSpPr/>
          <p:nvPr/>
        </p:nvSpPr>
        <p:spPr>
          <a:xfrm>
            <a:off x="2002371" y="853678"/>
            <a:ext cx="2226980" cy="321469"/>
          </a:xfrm>
          <a:prstGeom prst="rect">
            <a:avLst/>
          </a:prstGeom>
          <a:solidFill>
            <a:srgbClr val="BBDEFB"/>
          </a:solidFill>
          <a:ln w="99">
            <a:solidFill>
              <a:srgbClr val="90CA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02371" y="853678"/>
            <a:ext cx="2226980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x86-64 (Intel/AMD)</a:t>
            </a:r>
            <a:endParaRPr lang="en-US" sz="837" dirty="0"/>
          </a:p>
        </p:txBody>
      </p:sp>
      <p:sp>
        <p:nvSpPr>
          <p:cNvPr id="8" name="Shape 5"/>
          <p:cNvSpPr/>
          <p:nvPr/>
        </p:nvSpPr>
        <p:spPr>
          <a:xfrm>
            <a:off x="4229351" y="853678"/>
            <a:ext cx="2226980" cy="321469"/>
          </a:xfrm>
          <a:prstGeom prst="rect">
            <a:avLst/>
          </a:prstGeom>
          <a:solidFill>
            <a:srgbClr val="BBDEFB"/>
          </a:solidFill>
          <a:ln w="99">
            <a:solidFill>
              <a:srgbClr val="90CA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29351" y="853678"/>
            <a:ext cx="2226980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ARM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6456331" y="853678"/>
            <a:ext cx="2398347" cy="321469"/>
          </a:xfrm>
          <a:prstGeom prst="rect">
            <a:avLst/>
          </a:prstGeom>
          <a:solidFill>
            <a:srgbClr val="BBDEFB"/>
          </a:solidFill>
          <a:ln w="99">
            <a:solidFill>
              <a:srgbClr val="90CA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56331" y="853678"/>
            <a:ext cx="2398347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RISC-V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350044" y="1235869"/>
            <a:ext cx="10026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Filosofia de Design</a:t>
            </a:r>
            <a:endParaRPr lang="en-US" sz="785" dirty="0"/>
          </a:p>
        </p:txBody>
      </p:sp>
      <p:sp>
        <p:nvSpPr>
          <p:cNvPr id="13" name="Text 10"/>
          <p:cNvSpPr/>
          <p:nvPr/>
        </p:nvSpPr>
        <p:spPr>
          <a:xfrm>
            <a:off x="2002371" y="1168003"/>
            <a:ext cx="2226980" cy="28217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CISC (Complex Instruction Set Computer)</a:t>
            </a:r>
            <a:endParaRPr lang="en-US" sz="785" dirty="0"/>
          </a:p>
        </p:txBody>
      </p:sp>
      <p:sp>
        <p:nvSpPr>
          <p:cNvPr id="14" name="Text 11"/>
          <p:cNvSpPr/>
          <p:nvPr/>
        </p:nvSpPr>
        <p:spPr>
          <a:xfrm>
            <a:off x="4229351" y="1168003"/>
            <a:ext cx="2226980" cy="28217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 (Reduced Instruction Set Computer)</a:t>
            </a:r>
            <a:endParaRPr lang="en-US" sz="785" dirty="0"/>
          </a:p>
        </p:txBody>
      </p:sp>
      <p:sp>
        <p:nvSpPr>
          <p:cNvPr id="15" name="Text 12"/>
          <p:cNvSpPr/>
          <p:nvPr/>
        </p:nvSpPr>
        <p:spPr>
          <a:xfrm>
            <a:off x="6456331" y="1168003"/>
            <a:ext cx="2398347" cy="28217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 (Reduced Instruction Set Computer)</a:t>
            </a:r>
            <a:endParaRPr lang="en-US" sz="785" dirty="0"/>
          </a:p>
        </p:txBody>
      </p:sp>
      <p:sp>
        <p:nvSpPr>
          <p:cNvPr id="16" name="Shape 13"/>
          <p:cNvSpPr/>
          <p:nvPr/>
        </p:nvSpPr>
        <p:spPr>
          <a:xfrm>
            <a:off x="289322" y="1450181"/>
            <a:ext cx="8565356" cy="44291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350044" y="1598414"/>
            <a:ext cx="74281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Registradores</a:t>
            </a:r>
            <a:endParaRPr lang="en-US" sz="785" dirty="0"/>
          </a:p>
        </p:txBody>
      </p:sp>
      <p:sp>
        <p:nvSpPr>
          <p:cNvPr id="18" name="Text 15"/>
          <p:cNvSpPr/>
          <p:nvPr/>
        </p:nvSpPr>
        <p:spPr>
          <a:xfrm>
            <a:off x="2002371" y="1450181"/>
            <a:ext cx="2226980" cy="44291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registradores de propósito geral de 64 bits (rax, rbx, rcx, etc.)</a:t>
            </a:r>
            <a:endParaRPr lang="en-US" sz="785" dirty="0"/>
          </a:p>
        </p:txBody>
      </p:sp>
      <p:sp>
        <p:nvSpPr>
          <p:cNvPr id="19" name="Text 16"/>
          <p:cNvSpPr/>
          <p:nvPr/>
        </p:nvSpPr>
        <p:spPr>
          <a:xfrm>
            <a:off x="4229351" y="1450181"/>
            <a:ext cx="2226980" cy="44291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 registradores de propósito geral de 64 bits (x0-x30)</a:t>
            </a:r>
            <a:endParaRPr lang="en-US" sz="785" dirty="0"/>
          </a:p>
        </p:txBody>
      </p:sp>
      <p:sp>
        <p:nvSpPr>
          <p:cNvPr id="20" name="Text 17"/>
          <p:cNvSpPr/>
          <p:nvPr/>
        </p:nvSpPr>
        <p:spPr>
          <a:xfrm>
            <a:off x="6456331" y="1450181"/>
            <a:ext cx="2398347" cy="44291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 registradores de propósito geral de 64 bits (x1-x31, x0 é zero)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350044" y="2041327"/>
            <a:ext cx="5689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Instruções</a:t>
            </a:r>
            <a:endParaRPr lang="en-US" sz="785" dirty="0"/>
          </a:p>
        </p:txBody>
      </p:sp>
      <p:sp>
        <p:nvSpPr>
          <p:cNvPr id="22" name="Text 19"/>
          <p:cNvSpPr/>
          <p:nvPr/>
        </p:nvSpPr>
        <p:spPr>
          <a:xfrm>
            <a:off x="2002371" y="1893094"/>
            <a:ext cx="2226980" cy="44291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Complexas e de tamanho variável (1-15 bytes)</a:t>
            </a:r>
            <a:endParaRPr lang="en-US" sz="785" dirty="0"/>
          </a:p>
        </p:txBody>
      </p:sp>
      <p:sp>
        <p:nvSpPr>
          <p:cNvPr id="23" name="Text 20"/>
          <p:cNvSpPr/>
          <p:nvPr/>
        </p:nvSpPr>
        <p:spPr>
          <a:xfrm>
            <a:off x="4229351" y="1893094"/>
            <a:ext cx="2226980" cy="44291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Simples e de tamanho fixo (4 bytes)</a:t>
            </a:r>
            <a:endParaRPr lang="en-US" sz="785" dirty="0"/>
          </a:p>
        </p:txBody>
      </p:sp>
      <p:sp>
        <p:nvSpPr>
          <p:cNvPr id="24" name="Text 21"/>
          <p:cNvSpPr/>
          <p:nvPr/>
        </p:nvSpPr>
        <p:spPr>
          <a:xfrm>
            <a:off x="6456331" y="1893094"/>
            <a:ext cx="2398347" cy="44291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Simples e de tamanho fixo (4 bytes), com extensões modulares</a:t>
            </a:r>
            <a:endParaRPr lang="en-US" sz="785" dirty="0"/>
          </a:p>
        </p:txBody>
      </p:sp>
      <p:sp>
        <p:nvSpPr>
          <p:cNvPr id="25" name="Shape 22"/>
          <p:cNvSpPr/>
          <p:nvPr/>
        </p:nvSpPr>
        <p:spPr>
          <a:xfrm>
            <a:off x="289322" y="2336006"/>
            <a:ext cx="8565356" cy="44291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3"/>
          <p:cNvSpPr/>
          <p:nvPr/>
        </p:nvSpPr>
        <p:spPr>
          <a:xfrm>
            <a:off x="350044" y="2484239"/>
            <a:ext cx="78631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Licenciamento</a:t>
            </a:r>
            <a:endParaRPr lang="en-US" sz="785" dirty="0"/>
          </a:p>
        </p:txBody>
      </p:sp>
      <p:sp>
        <p:nvSpPr>
          <p:cNvPr id="27" name="Text 24"/>
          <p:cNvSpPr/>
          <p:nvPr/>
        </p:nvSpPr>
        <p:spPr>
          <a:xfrm>
            <a:off x="2002371" y="2336006"/>
            <a:ext cx="2226980" cy="44291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Proprietário (Intel, AMD)</a:t>
            </a:r>
            <a:endParaRPr lang="en-US" sz="785" dirty="0"/>
          </a:p>
        </p:txBody>
      </p:sp>
      <p:sp>
        <p:nvSpPr>
          <p:cNvPr id="28" name="Text 25"/>
          <p:cNvSpPr/>
          <p:nvPr/>
        </p:nvSpPr>
        <p:spPr>
          <a:xfrm>
            <a:off x="4229351" y="2336006"/>
            <a:ext cx="2226980" cy="44291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Proprietário (licenciamento pela ARM Holdings)</a:t>
            </a:r>
            <a:endParaRPr lang="en-US" sz="785" dirty="0"/>
          </a:p>
        </p:txBody>
      </p:sp>
      <p:sp>
        <p:nvSpPr>
          <p:cNvPr id="29" name="Text 26"/>
          <p:cNvSpPr/>
          <p:nvPr/>
        </p:nvSpPr>
        <p:spPr>
          <a:xfrm>
            <a:off x="6456331" y="2336006"/>
            <a:ext cx="2398347" cy="44291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Aberto e livre de royalties (BSD)</a:t>
            </a:r>
            <a:endParaRPr lang="en-US" sz="785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961084"/>
            <a:ext cx="85725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7158"/>
            <a:ext cx="9144000" cy="54078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Hierarquia de Memória em RISC-V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Organização em Níveis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50156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hierarquia de memória em RISC-V segue o princípio de equilibrar velocidade, capacidade e custo: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1698426"/>
            <a:ext cx="9280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Registradores: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8625" y="1787723"/>
            <a:ext cx="3290562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31 registradores de 64 bits (248 bytes), acesso em ~1 ciclo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2155626"/>
            <a:ext cx="10010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L1/L2/L3: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1429699" y="2155626"/>
            <a:ext cx="25550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Memória intermediária de alta velocidade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2421730"/>
            <a:ext cx="16303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Memória Principal (RAM):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01557" y="2509242"/>
            <a:ext cx="364096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Gigabytes de capacidade, acesso em centenas de ciclos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28625" y="2877146"/>
            <a:ext cx="18744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Armazenamento Persistente: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2303050" y="2877146"/>
            <a:ext cx="1070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Discos, SSDs, etc.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293228" y="3224511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Princípios de Localidade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85750" y="3569196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Dois princípios fundamentais guiam o projeto da hierarquia de memória: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28625" y="4128641"/>
            <a:ext cx="1362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Localidade Temporal: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97902" y="4331739"/>
            <a:ext cx="3586832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acessados recentemente têm grande chance de serem acessados novamente em breve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28625" y="4652367"/>
            <a:ext cx="12781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Localidade Espacial: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01557" y="4848506"/>
            <a:ext cx="3681096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 um endereço é acessado, endereços vizinhos tendem a ser acessados em seguida</a:t>
            </a:r>
            <a:endParaRPr lang="en-US" sz="942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A3480D7F-E5D9-4D05-043B-A28F6DC0F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713" y="1615971"/>
            <a:ext cx="4737662" cy="28723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59" y="2118122"/>
            <a:ext cx="2938398" cy="16528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326293"/>
            <a:ext cx="2082301" cy="39754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 err="1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Memória</a:t>
            </a: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Cache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60256"/>
            <a:ext cx="1394613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Memória Cache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85750" y="1251795"/>
            <a:ext cx="85725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Armazenamento temporário de alta velocidade que mantém cópias de dados frequentemente acessados da memória principal.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85751" y="1582743"/>
            <a:ext cx="1830372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Organização: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29761" y="1582743"/>
            <a:ext cx="4857572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L1 (próxima ao processador), L2 e L3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85750" y="1779196"/>
            <a:ext cx="193933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Mapeamento: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2589" y="1774170"/>
            <a:ext cx="768561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Direto, associativo por conjunto ou totalmente associativo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85751" y="1975649"/>
            <a:ext cx="3323606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Política de substituição: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55640" y="1982908"/>
            <a:ext cx="258284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LRU, FIFO, Random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5750" y="4099947"/>
            <a:ext cx="224741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Medição de Desempenho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5750" y="4491485"/>
            <a:ext cx="857250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desempenho da cache é medido principalmente pela taxa de acertos (hit rate) e pela penalidade de falhas (miss penalty).</a:t>
            </a:r>
            <a:endParaRPr lang="en-US" sz="1000" dirty="0"/>
          </a:p>
        </p:txBody>
      </p:sp>
      <p:pic>
        <p:nvPicPr>
          <p:cNvPr id="3074" name="Picture 2" descr="O que é a memória cache? – Ajuda à Informática">
            <a:extLst>
              <a:ext uri="{FF2B5EF4-FFF2-40B4-BE49-F238E27FC236}">
                <a16:creationId xmlns:a16="http://schemas.microsoft.com/office/drawing/2014/main" id="{02987178-17FA-A346-645B-40B19801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007" y="2298508"/>
            <a:ext cx="2938398" cy="154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86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Buffer Overflow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57263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é Buffer Overflow?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321594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vulnerabilidade que ocorre quando um programa escreve dados além dos limites alocados para um buffer na memória, sobrescrevendo áreas adjacentes.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85750" y="2007394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28625" y="2371725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Corrupção de dados na memória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2636044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Comportamento imprevisível do programa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900363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Execução de código arbitrário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3164681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Elevação de privilégios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3429000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Comprometimento do sistema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285750" y="3764756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Mitigações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85750" y="4129088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Verificação de limites, canários de stack, ASLR (Address Space Layout Randomization), DEP (Data Execution Prevention) e programação defensiva.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4292611" y="3815582"/>
            <a:ext cx="4286250" cy="1126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i="1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Representação de um buffer overflow: dados excedem o espaço alocado </a:t>
            </a:r>
            <a:endParaRPr lang="en-US" sz="732" dirty="0"/>
          </a:p>
        </p:txBody>
      </p:sp>
      <p:sp>
        <p:nvSpPr>
          <p:cNvPr id="17" name="Text 12"/>
          <p:cNvSpPr/>
          <p:nvPr/>
        </p:nvSpPr>
        <p:spPr>
          <a:xfrm>
            <a:off x="5481349" y="5829300"/>
            <a:ext cx="24675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i="1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 da stack antes e depois de um buffer overflow</a:t>
            </a:r>
            <a:endParaRPr lang="en-US" sz="732" dirty="0"/>
          </a:p>
        </p:txBody>
      </p:sp>
      <p:pic>
        <p:nvPicPr>
          <p:cNvPr id="3074" name="Picture 2" descr="Buffer Overflow Attack: Prevention and Detection | Indusface">
            <a:extLst>
              <a:ext uri="{FF2B5EF4-FFF2-40B4-BE49-F238E27FC236}">
                <a16:creationId xmlns:a16="http://schemas.microsoft.com/office/drawing/2014/main" id="{D98A6704-896D-E7FE-BD32-40190FB18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98" y="1682510"/>
            <a:ext cx="4559277" cy="200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Shellcode Injection e ROP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57263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Shellcode Injection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85875"/>
            <a:ext cx="3857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Técnica que explora vulnerabilidades de buffer overflow para injetar código malicioso (shellcode) na memória e executá-lo com os privilégios do programa vulnerável.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85750" y="2107406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Return-Oriented Programming (ROP)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85750" y="2436019"/>
            <a:ext cx="38576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Técnica avançada que contorna proteções como DEP (Data Execution Prevention) ao reutilizar trechos de código legítimo já existentes na memória (gadgets) para construir uma cadeia de execução maliciosa.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3471863"/>
            <a:ext cx="3857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na Segurança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85750" y="3800475"/>
            <a:ext cx="38576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Estas técnicas podem levar à execução de código arbitrário, escalação de privilégios e comprometimento completo do sistema, tornando-se uma preocupação crítica para arquiteturas de processadores.</a:t>
            </a:r>
            <a:endParaRPr lang="en-US" sz="1046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88157"/>
            <a:ext cx="4286250" cy="24172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26144" y="435769"/>
            <a:ext cx="2891684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Perguntas?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3157510" y="1493044"/>
            <a:ext cx="282895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Obrigado pela atenção!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3857625" y="2307431"/>
            <a:ext cx="1428750" cy="1428750"/>
          </a:xfrm>
          <a:prstGeom prst="ellipse">
            <a:avLst/>
          </a:prstGeom>
          <a:solidFill>
            <a:srgbClr val="2196F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109" y="2593181"/>
            <a:ext cx="535781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A23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Referências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966192"/>
            <a:ext cx="3383012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Geral sobre Arquitetura RISC-V: Foco em design e desempenho.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1301893" y="1159073"/>
            <a:ext cx="12264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Pedro Tuttman, 2025.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1459111"/>
            <a:ext cx="37106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RISC-V: The Free and Open RISC Instruction Set Architecture.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8625" y="1651992"/>
            <a:ext cx="11839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RISC-V International.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1645993" y="1651992"/>
            <a:ext cx="10038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2196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https://riscv.org/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1952030"/>
            <a:ext cx="14544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RISC-V and Automotive.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1916562" y="1952030"/>
            <a:ext cx="11839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RISC-V International.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2144911"/>
            <a:ext cx="23904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2196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https://riscv.org/industries/automotive/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28625" y="2444948"/>
            <a:ext cx="33683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RISC-V Market Size, Share &amp; Growth Report, 2025-2034.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28625" y="2499041"/>
            <a:ext cx="3775249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Global Market Insights.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28625" y="2709610"/>
            <a:ext cx="3282386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2196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https://www.gminsights.com/industry-analysis/risc-v-market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28625" y="3130748"/>
            <a:ext cx="22292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RISC-V? – How Does it Work?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691296" y="3130748"/>
            <a:ext cx="5503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Synopsys.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28625" y="3323630"/>
            <a:ext cx="33234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2196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https://www.synopsys.com/glossary/what-is-risc-v.html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886325" y="966192"/>
            <a:ext cx="30260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Computer Architecture: A Quantitative Approach.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886325" y="1026228"/>
            <a:ext cx="3885335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Hennessy, J. L., &amp; Patterson, D. A. (2019). 6th Edition.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886325" y="1459111"/>
            <a:ext cx="36907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RISC-V Instruction Set Manual, Volume I: User-Level ISA.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886325" y="1651992"/>
            <a:ext cx="19945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Waterman, A., &amp; Asanović, K. (Eds.).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886325" y="1844873"/>
            <a:ext cx="24571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2196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https://riscv.org/technical/specifications/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886325" y="2144911"/>
            <a:ext cx="26273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RISC-V Turns 15 With Fast Global Adoption.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7547093" y="2144911"/>
            <a:ext cx="8781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EE Times, 2025.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4886325" y="2337792"/>
            <a:ext cx="3487573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dirty="0">
                <a:solidFill>
                  <a:srgbClr val="2196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https://www.eetimes.com/risc-v-turns-15-with-fast-global-adoption/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4886325" y="2830711"/>
            <a:ext cx="29982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Buffer Overflow Attacks: Detect, Exploit, Prevent.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4886325" y="2886761"/>
            <a:ext cx="3792745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Foster, J. C., &amp; Osipov, V. (2005).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4886325" y="3290118"/>
            <a:ext cx="3519581" cy="43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0D47A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Return-Oriented Programming: Systems, Languages, and Applications.</a:t>
            </a:r>
          </a:p>
          <a:p>
            <a:pPr marL="0" indent="0" algn="l">
              <a:buNone/>
            </a:pP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4886325" y="3516511"/>
            <a:ext cx="3775277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Roemer, R., Buchanan, E., Shacham, H., &amp; Savage, S. (2012).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2884</TotalTime>
  <Words>1485</Words>
  <Application>Microsoft Office PowerPoint</Application>
  <PresentationFormat>Apresentação na tela (16:9)</PresentationFormat>
  <Paragraphs>216</Paragraphs>
  <Slides>15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monospace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Tuttman</cp:lastModifiedBy>
  <cp:revision>8</cp:revision>
  <dcterms:created xsi:type="dcterms:W3CDTF">2025-09-21T00:49:25Z</dcterms:created>
  <dcterms:modified xsi:type="dcterms:W3CDTF">2025-09-23T01:49:39Z</dcterms:modified>
</cp:coreProperties>
</file>